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0"/>
            <a:ext cx="274320" cy="685800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365760"/>
            <a:ext cx="1097280" cy="1097280"/>
          </a:xfrm>
          <a:prstGeom prst="ellipse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548640"/>
            <a:ext cx="731520" cy="73152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09B"/>
                </a:solidFill>
                <a:latin typeface="Calibri"/>
              </a:rPr>
              <a:t>LISAAN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31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SLMS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2286000" cy="4572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3063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  <a:latin typeface="Calibri"/>
              </a:rPr>
              <a:t>Student Learning
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D4B8"/>
                </a:solidFill>
                <a:latin typeface="Calibri"/>
              </a:rPr>
              <a:t>A Modern OOP-Based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Student Learning
Management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383280"/>
            <a:ext cx="914400" cy="6400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A72"/>
                </a:solidFill>
                <a:latin typeface="Calibri"/>
              </a:rPr>
              <a:t>SE5 – Section A  |  Object-Oriented Programming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937760"/>
            <a:ext cx="8988552" cy="1920240"/>
          </a:xfrm>
          <a:prstGeom prst="rect">
            <a:avLst/>
          </a:prstGeom>
          <a:solidFill>
            <a:srgbClr val="08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9B"/>
                </a:solidFill>
                <a:latin typeface="Calibri"/>
              </a:rPr>
              <a:t>Presented By: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440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Kamran Ali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852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Syed Mubashir Mehdi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5120640"/>
            <a:ext cx="45720" cy="150876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9B"/>
                </a:solidFill>
                <a:latin typeface="Calibri"/>
              </a:rPr>
              <a:t>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3949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Object-Oriented
Programming (SE5-A)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035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2024 –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B8"/>
                </a:solidFill>
                <a:latin typeface="Calibri"/>
              </a:rPr>
              <a:t>Lisaan SLMS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02920" cy="10972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Project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2"/>
                </a:solidFill>
                <a:latin typeface="Calibri"/>
              </a:rPr>
              <a:t>Goals, scope, and motivation behind Lisaan SLMS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5176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02920" cy="10972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2880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2743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31546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2"/>
                </a:solidFill>
                <a:latin typeface="Calibri"/>
              </a:rPr>
              <a:t>Module structure and OOP design overview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3192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931920"/>
            <a:ext cx="502920" cy="10972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402335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User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44348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2"/>
                </a:solidFill>
                <a:latin typeface="Calibri"/>
              </a:rPr>
              <a:t>Student, Teacher, and Admin role models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12079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5212079"/>
            <a:ext cx="502920" cy="10972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54406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19" y="530351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Core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" y="571499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2"/>
                </a:solidFill>
                <a:latin typeface="Calibri"/>
              </a:rPr>
              <a:t>Authentication, courses, assignments &amp; materials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37160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371600"/>
            <a:ext cx="502920" cy="10972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7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Student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2"/>
                </a:solidFill>
                <a:latin typeface="Calibri"/>
              </a:rPr>
              <a:t>Dashboard, enrollment, grades, and progress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65176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651760"/>
            <a:ext cx="502920" cy="10972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7" y="2880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743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Admin Control Panel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1546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2"/>
                </a:solidFill>
                <a:latin typeface="Calibri"/>
              </a:rPr>
              <a:t>System overview, toggles, and stats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93192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931920"/>
            <a:ext cx="502920" cy="10972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7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02335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Validation &amp;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4348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2"/>
                </a:solidFill>
                <a:latin typeface="Calibri"/>
              </a:rPr>
              <a:t>Input validators and SHA-256 password hashing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212079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5212079"/>
            <a:ext cx="502920" cy="10972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81927" y="54406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530351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Testing &amp; Demo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71499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2"/>
                </a:solidFill>
                <a:latin typeface="Calibri"/>
              </a:rPr>
              <a:t>PyTest unit tests and front-end demo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01  |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B8"/>
                </a:solidFill>
                <a:latin typeface="Calibri"/>
              </a:rPr>
              <a:t>What is Lisaan SLMS?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5394960" cy="5120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394960" cy="45720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Is It?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A simplified Student Learning Management System built using Object-Oriented Python.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Supports three roles: Student, Teacher, and Admin — each with tailored features.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79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63239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Backend models: User, Student, Teacher, Admin, Course, Assignment, Material.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11879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Business logic handled through clean Controller classes.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51959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SHA-256 password hashing and input validation built-in.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00600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Includes a front-end demo (index.html) with a JavaScript data store.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49240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25780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Unit-tested with PyTest for reliability and correctness.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371600"/>
            <a:ext cx="5760720" cy="5120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5087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09B"/>
                </a:solidFill>
                <a:latin typeface="Calibri"/>
              </a:rPr>
              <a:t>Why This Project?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148840"/>
            <a:ext cx="5303520" cy="86868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148840"/>
            <a:ext cx="73152" cy="86868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B8"/>
                </a:solidFill>
                <a:latin typeface="Calibri"/>
              </a:rPr>
              <a:t>Practical 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Demonstrates real-world use of inheritance, encapsulation, and polymorphism.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200400"/>
            <a:ext cx="5303520" cy="86868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200400"/>
            <a:ext cx="73152" cy="86868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246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B8"/>
                </a:solidFill>
                <a:latin typeface="Calibri"/>
              </a:rPr>
              <a:t>Modular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Clear separation of models, controllers, validators, and tests.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251960"/>
            <a:ext cx="5303520" cy="86868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251960"/>
            <a:ext cx="73152" cy="86868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B8"/>
                </a:solidFill>
                <a:latin typeface="Calibri"/>
              </a:rPr>
              <a:t>Multi-Role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Each user type has distinct privileges and a dedicated controller.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5303520"/>
            <a:ext cx="5303520" cy="86868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5303520"/>
            <a:ext cx="73152" cy="86868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B8"/>
                </a:solidFill>
                <a:latin typeface="Calibri"/>
              </a:rPr>
              <a:t>Learning Tool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Ideal demo project for SE students learning software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02  |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B8"/>
                </a:solidFill>
                <a:latin typeface="Calibri"/>
              </a:rPr>
              <a:t>Module Structure &amp; OOP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5" y="1325880"/>
            <a:ext cx="11247120" cy="82296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5" y="1371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6996" y="137160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index.html  ·  JavaScript DB Store  ·  Role-based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" y="2331720"/>
            <a:ext cx="1124712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" y="237743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Controller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6996" y="2377439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AuthController  ·  CourseController  ·  StudentController  ·  AdminController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" y="3337560"/>
            <a:ext cx="11247120" cy="82296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" y="3383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6996" y="338328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User  ·  Student  ·  Teacher  ·  Admin  ·  Course  ·  Assignment  ·  Material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" y="4343400"/>
            <a:ext cx="11247120" cy="822960"/>
          </a:xfrm>
          <a:prstGeom prst="rect">
            <a:avLst/>
          </a:prstGeom>
          <a:solidFill>
            <a:srgbClr val="1E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" y="4389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6996" y="438912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Database Singleton  ·  In-Memory Store  ·  Demo Seeding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" y="5349240"/>
            <a:ext cx="11247120" cy="822960"/>
          </a:xfrm>
          <a:prstGeom prst="rect">
            <a:avLst/>
          </a:prstGeom>
          <a:solidFill>
            <a:srgbClr val="4A5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" y="5394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Utilities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6996" y="539496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validators.py  ·  SHA-256 Hashing  ·  test_slms.py (PyTest)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A72"/>
                </a:solidFill>
                <a:latin typeface="Calibri"/>
              </a:rPr>
              <a:t>Each layer communicates downward — Controllers use Models; Models use Database. Clean separation of concerns.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03  |  User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B8"/>
                </a:solidFill>
                <a:latin typeface="Calibri"/>
              </a:rPr>
              <a:t>OOP Inheritance: Base User → Student, Teacher, Admin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371600"/>
            <a:ext cx="393192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371600"/>
            <a:ext cx="3931920" cy="36576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38988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User  (Base Class)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783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name · email · password_hash · user_id
check_password() · to_dict()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377440"/>
            <a:ext cx="109728" cy="45720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880360"/>
            <a:ext cx="393192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880360"/>
            <a:ext cx="3931920" cy="4114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986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⟶ 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student_id · enrolled_courses
grades · get_enrolled_courses()
enroll() · add_grade()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880360"/>
            <a:ext cx="393192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2880360"/>
            <a:ext cx="3931920" cy="41148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8986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⟶ Teacher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3756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teacher_id · courses_teaching
get_teaching_courses()
add_course_to_teaching()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2880360"/>
            <a:ext cx="393192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2880360"/>
            <a:ext cx="3931920" cy="411480"/>
          </a:xfrm>
          <a:prstGeom prst="rect">
            <a:avLst/>
          </a:prstGeom>
          <a:solidFill>
            <a:srgbClr val="7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8986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⟶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33756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admin_level
get_admin_info()
Full system privileges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36576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9B"/>
                </a:solidFill>
                <a:latin typeface="Calibri"/>
              </a:rPr>
              <a:t>Inheritance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Student/Teacher/Admin extend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5120640"/>
            <a:ext cx="36576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9B"/>
                </a:solidFill>
                <a:latin typeface="Calibri"/>
              </a:rPr>
              <a:t>Encapsulation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56235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Password stored as SHA-256 hash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5" y="5120640"/>
            <a:ext cx="36576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5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9B"/>
                </a:solidFill>
                <a:latin typeface="Calibri"/>
              </a:rPr>
              <a:t>Polymorphism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5" y="56235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to_dict() overridden in subclasses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04  | 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B8"/>
                </a:solidFill>
                <a:latin typeface="Calibri"/>
              </a:rPr>
              <a:t>Authentication · Courses · Assignments · Materials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7947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94760" cy="50292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990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F0EB"/>
                </a:solidFill>
                <a:latin typeface="Calibri"/>
              </a:rPr>
              <a:t>AuthController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21992"/>
            <a:ext cx="91440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5740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login(email, password)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99232"/>
            <a:ext cx="91440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834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register_student(...)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76472"/>
            <a:ext cx="91440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61188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register_teacher(...)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53712"/>
            <a:ext cx="91440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3891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SHA-256 password hashing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330952"/>
            <a:ext cx="91440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516636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Email + password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1371600"/>
            <a:ext cx="37947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0248" y="1371600"/>
            <a:ext cx="3794760" cy="50292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3990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Course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171907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F0EB"/>
                </a:solidFill>
                <a:latin typeface="Calibri"/>
              </a:rPr>
              <a:t>CourseController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53128" y="2221992"/>
            <a:ext cx="91440" cy="9144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54296" y="205740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get_all_courses()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53128" y="2999232"/>
            <a:ext cx="91440" cy="9144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2834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get_course_detail(course_id)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3128" y="3776472"/>
            <a:ext cx="91440" cy="9144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361188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enroll_student(student_id, course_id)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53128" y="4553712"/>
            <a:ext cx="91440" cy="9144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4296" y="43891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create_course(...)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3128" y="5330952"/>
            <a:ext cx="91440" cy="9144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54296" y="516636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add_assignment / add_material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0456" y="1371600"/>
            <a:ext cx="37947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0456" y="1371600"/>
            <a:ext cx="3794760" cy="50292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6" y="13990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Data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171907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F0EB"/>
                </a:solidFill>
                <a:latin typeface="Calibri"/>
              </a:rPr>
              <a:t>course.py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03336" y="2221992"/>
            <a:ext cx="91440" cy="9144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04504" y="205740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Course: id, name, teacher, credits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03336" y="2999232"/>
            <a:ext cx="91440" cy="9144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4504" y="2834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Assignment: title, description, due date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03336" y="3776472"/>
            <a:ext cx="91440" cy="9144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04504" y="361188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Material: title, content, material type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4553712"/>
            <a:ext cx="91440" cy="9144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4504" y="43891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Active/inactive course 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03336" y="5330952"/>
            <a:ext cx="91440" cy="9144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04504" y="516636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A72"/>
                </a:solidFill>
                <a:latin typeface="Calibri"/>
              </a:rPr>
              <a:t>Course ↔ Student relationship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05  |  Student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StudentController – Dashboard, Grades &amp; Enrollment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5303520" cy="5212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30352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StudentController 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0292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64008" cy="13258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onsolas"/>
              </a:rPr>
              <a:t>get_dashboard(student_id)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2"/>
                </a:solidFill>
                <a:latin typeface="Calibri"/>
              </a:rPr>
              <a:t>Returns student info + enriched enrolled-course data including course details, teacher name, and assignment counts.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0292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64008" cy="13258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56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onsolas"/>
              </a:rPr>
              <a:t>get_grades(student_id)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5876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2"/>
                </a:solidFill>
                <a:latin typeface="Calibri"/>
              </a:rPr>
              <a:t>Returns per-course grade with automatic letter grade conversion (A, B, C, D, F).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50292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64008" cy="13258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194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onsolas"/>
              </a:rPr>
              <a:t>enroll_student(student_id, course_id)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2180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2"/>
                </a:solidFill>
                <a:latin typeface="Calibri"/>
              </a:rPr>
              <a:t>Validates and enrolls a student in an active course. Prevents duplicate enrollment.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71600"/>
            <a:ext cx="5760720" cy="2468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9B"/>
                </a:solidFill>
                <a:latin typeface="Calibri"/>
              </a:rPr>
              <a:t>Grade Conversion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965960"/>
            <a:ext cx="1005840" cy="82296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0116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468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90 – 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965960"/>
            <a:ext cx="1005840" cy="822960"/>
          </a:xfrm>
          <a:prstGeom prst="rect">
            <a:avLst/>
          </a:prstGeom>
          <a:solidFill>
            <a:srgbClr val="32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0116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468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80 – 89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1965960"/>
            <a:ext cx="1005840" cy="822960"/>
          </a:xfrm>
          <a:prstGeom prst="rect">
            <a:avLst/>
          </a:prstGeom>
          <a:solidFill>
            <a:srgbClr val="C8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20116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468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70 – 79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965960"/>
            <a:ext cx="1005840" cy="822960"/>
          </a:xfrm>
          <a:prstGeom prst="rect">
            <a:avLst/>
          </a:prstGeom>
          <a:solidFill>
            <a:srgbClr val="C8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20116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468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60 – 69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1965960"/>
            <a:ext cx="1005840" cy="82296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0" y="20116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2468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0 – 59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023360"/>
            <a:ext cx="1828800" cy="2423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4023360"/>
            <a:ext cx="1828800" cy="4114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0690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Enrolled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526280"/>
            <a:ext cx="1645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Courses tracked per student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4023360"/>
            <a:ext cx="1828800" cy="2423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4023360"/>
            <a:ext cx="1828800" cy="4114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40690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Grades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526280"/>
            <a:ext cx="1645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Per-course score + letter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49840" y="4023360"/>
            <a:ext cx="1828800" cy="2423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49840" y="4023360"/>
            <a:ext cx="1828800" cy="41148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40690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4526280"/>
            <a:ext cx="1645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Full enriched profile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06  |  Admin Control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B8"/>
                </a:solidFill>
                <a:latin typeface="Calibri"/>
              </a:rPr>
              <a:t>AdminController – System Overview &amp;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11548872" cy="182880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9B"/>
                </a:solidFill>
                <a:latin typeface="Consolas"/>
              </a:rPr>
              <a:t>get_overview()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Aggregates system-wide statistics and returns a comprehensive snapshot for the admin dashboard.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2606040" cy="5943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96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9B"/>
                </a:solidFill>
                <a:latin typeface="Calibri"/>
              </a:rPr>
              <a:t>Total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Students + Teachers + Admins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2468880"/>
            <a:ext cx="2606040" cy="5943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2496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9B"/>
                </a:solidFill>
                <a:latin typeface="Calibri"/>
              </a:rPr>
              <a:t>Active Courses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788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Only enabled courses counted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2468880"/>
            <a:ext cx="2606040" cy="5943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2496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9B"/>
                </a:solidFill>
                <a:latin typeface="Calibri"/>
              </a:rPr>
              <a:t>Total Enrollments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788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Across all active students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256" y="2468880"/>
            <a:ext cx="2606040" cy="594360"/>
          </a:xfrm>
          <a:prstGeom prst="rect">
            <a:avLst/>
          </a:prstGeom>
          <a:solidFill>
            <a:srgbClr val="08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2496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9B"/>
                </a:solidFill>
                <a:latin typeface="Calibri"/>
              </a:rPr>
              <a:t>Assignments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2788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System-wide assignment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91840"/>
            <a:ext cx="11548872" cy="1645920"/>
          </a:xfrm>
          <a:prstGeom prst="rect">
            <a:avLst/>
          </a:prstGeom>
          <a:solidFill>
            <a:srgbClr val="0A1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Consolas"/>
              </a:rPr>
              <a:t>toggle_course(course_id)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Activates or deactivates a course. If active → deactivated; if inactive → activated.
Ensures only valid courses can be toggled; raises error if course not found.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120640"/>
            <a:ext cx="11548872" cy="155448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937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9B"/>
                </a:solidFill>
                <a:latin typeface="Calibri"/>
              </a:rPr>
              <a:t>Admin Privileges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87568"/>
            <a:ext cx="91440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577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View all users (students, teachers, admins)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5687568"/>
            <a:ext cx="91440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7" y="5577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View and manage all courses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19" y="5687568"/>
            <a:ext cx="91440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5577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Enable / disable courses via toggle_course()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190488"/>
            <a:ext cx="91440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60807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Access system-wide statistics at a glance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6190488"/>
            <a:ext cx="91440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7" y="60807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admin_level attribute for privilege tiers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07  |  Validation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B8"/>
                </a:solidFill>
                <a:latin typeface="Calibri"/>
              </a:rPr>
              <a:t>validators.py &amp; Password Hashing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11548872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73152" cy="91440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264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onsolas"/>
              </a:rPr>
              <a:t>validate_email(email)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288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Checks for proper email format (presence of @ and domain).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5029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5727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A5A72"/>
                </a:solidFill>
                <a:latin typeface="Calibri"/>
              </a:rPr>
              <a:t>→  Email must contain @ symbol and a valid domain.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23160"/>
            <a:ext cx="11548872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23160"/>
            <a:ext cx="73152" cy="91440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4780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onsolas"/>
              </a:rPr>
              <a:t>validate_password(password)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8803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Enforces minimum length of 8 characters.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514600"/>
            <a:ext cx="5029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6243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A5A72"/>
                </a:solidFill>
                <a:latin typeface="Calibri"/>
              </a:rPr>
              <a:t>→  Returns False if password length &lt; 8.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74720"/>
            <a:ext cx="11548872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474720"/>
            <a:ext cx="73152" cy="914400"/>
          </a:xfrm>
          <a:prstGeom prst="rect">
            <a:avLst/>
          </a:prstGeom>
          <a:solidFill>
            <a:srgbClr val="503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5295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onsolas"/>
              </a:rPr>
              <a:t>validate_student_id(sid)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9319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Alphanumeric only · 3–10 characters · Uppercase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566160"/>
            <a:ext cx="5029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675887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A5A72"/>
                </a:solidFill>
                <a:latin typeface="Calibri"/>
              </a:rPr>
              <a:t>→  IDs like 'STU001' pass; 'st 1!' fails.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26279"/>
            <a:ext cx="11548872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526279"/>
            <a:ext cx="73152" cy="914400"/>
          </a:xfrm>
          <a:prstGeom prst="rect">
            <a:avLst/>
          </a:prstGeom>
          <a:solidFill>
            <a:srgbClr val="1E6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58114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onsolas"/>
              </a:rPr>
              <a:t>validate_grade(grade)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983479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Accepts numeric grades in range 0–100 inclusive.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617719"/>
            <a:ext cx="5029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727447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A5A72"/>
                </a:solidFill>
                <a:latin typeface="Calibri"/>
              </a:rPr>
              <a:t>→  Prevents out-of-range scores from being stored.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577840"/>
            <a:ext cx="11548872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577840"/>
            <a:ext cx="73152" cy="914400"/>
          </a:xfrm>
          <a:prstGeom prst="rect">
            <a:avLst/>
          </a:prstGeom>
          <a:solidFill>
            <a:srgbClr val="96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563270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onsolas"/>
              </a:rPr>
              <a:t>sanitize_input(text)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0350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2"/>
                </a:solidFill>
                <a:latin typeface="Calibri"/>
              </a:rPr>
              <a:t>Strips whitespace · Truncates to 500 characters max.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669279"/>
            <a:ext cx="5029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5779007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A5A72"/>
                </a:solidFill>
                <a:latin typeface="Calibri"/>
              </a:rPr>
              <a:t>→  Prevents oversized or poorly-formatted inputs.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492240"/>
            <a:ext cx="1154887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🔒  Passwords stored as SHA-256 hashes via hashlib — plaintext passwords are never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08  |  Testing &amp; Front-End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PyTest Unit Tests &amp; Single-Page HTML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5394960" cy="5212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9B"/>
                </a:solidFill>
                <a:latin typeface="Calibri"/>
              </a:rPr>
              <a:t>PyTest 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  <a:latin typeface="Consolas"/>
              </a:rPr>
              <a:t>test_slms.py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96312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317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AuthController: login, register student/teacher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36392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718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CourseController: list, detail, enroll, create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76472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611879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StudentController: dashboard, grades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16551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251959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AdminController: overview, toggle_course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056631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8920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Validators: email, password, student ID, grade, sanitize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96712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5321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Database: singleton integrity, demo seeding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172200"/>
            <a:ext cx="5394960" cy="347472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1996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B8"/>
                </a:solidFill>
                <a:latin typeface="Consolas"/>
              </a:rPr>
              <a:t>Run:  pytest -q   (install: pip install pytest)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371600"/>
            <a:ext cx="57607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371600"/>
            <a:ext cx="5760720" cy="45720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4264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Front-End Demo  (index.html)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011680"/>
            <a:ext cx="544068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011680"/>
            <a:ext cx="64008" cy="7772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06654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Role-Based 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3957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2"/>
                </a:solidFill>
                <a:latin typeface="Calibri"/>
              </a:rPr>
              <a:t>Separate dashboards for Student, Teacher, and Admin roles.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907792"/>
            <a:ext cx="544068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2907792"/>
            <a:ext cx="64008" cy="7772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9626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JS Data 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291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2"/>
                </a:solidFill>
                <a:latin typeface="Calibri"/>
              </a:rPr>
              <a:t>Embedded JavaScript DB object replicates backend logic in-browser.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803904"/>
            <a:ext cx="544068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803904"/>
            <a:ext cx="64008" cy="7772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8587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Course Listing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1879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2"/>
                </a:solidFill>
                <a:latin typeface="Calibri"/>
              </a:rPr>
              <a:t>Browse and filter available courses with details.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700016"/>
            <a:ext cx="544068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700016"/>
            <a:ext cx="64008" cy="7772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7548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Dashboard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0840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2"/>
                </a:solidFill>
                <a:latin typeface="Calibri"/>
              </a:rPr>
              <a:t>Student dashboard with enrolled courses, grades, and progress.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596128"/>
            <a:ext cx="544068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5596128"/>
            <a:ext cx="64008" cy="7772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6509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No Server Needed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9801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2"/>
                </a:solidFill>
                <a:latin typeface="Calibri"/>
              </a:rPr>
              <a:t>Open index.html in any browser — zero setup required.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6172200"/>
            <a:ext cx="5760720" cy="34747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61996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Open index.html in a browser to explore the full demo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40280"/>
            <a:ext cx="4572000" cy="6400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D4B8"/>
                </a:solidFill>
                <a:latin typeface="Calibri"/>
              </a:rPr>
              <a:t>Lisaan SLMS — Student Learning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17520"/>
            <a:ext cx="10360152" cy="1920240"/>
          </a:xfrm>
          <a:prstGeom prst="rect">
            <a:avLst/>
          </a:prstGeom>
          <a:solidFill>
            <a:srgbClr val="16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9B"/>
                </a:solidFill>
                <a:latin typeface="Calibri"/>
              </a:rPr>
              <a:t>Project Highlights: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547872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42900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OOP-Based Python Architecture with clean model/controller separation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959352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84048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Multi-role system: Student, Teacher, Admin with dedicated controllers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370832"/>
            <a:ext cx="109728" cy="109728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25196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SHA-256 security · Input validation · PyTest tested · HTML demo included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10360152" cy="1463040"/>
          </a:xfrm>
          <a:prstGeom prst="rect">
            <a:avLst/>
          </a:prstGeom>
          <a:solidFill>
            <a:srgbClr val="08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32180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Kamran Ali   ·   Syed Mubashir Mehdi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521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B8"/>
                </a:solidFill>
                <a:latin typeface="Calibri"/>
              </a:rPr>
              <a:t>SE5 – Section A  |  Object-Oriented Programming  |  2024–2025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